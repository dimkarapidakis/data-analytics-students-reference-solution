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50e034bb-14af-3871-49e9-8fe818006020}">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Pass rate (%)</c:v>
                </c:pt>
              </c:strCache>
            </c:strRef>
          </c:tx>
          <c:spPr>
            <a:solidFill>
              <a:srgbClr val="7A3B69"/>
            </a:solidFill>
            <a:effectLst/>
          </c:spPr>
          <c:invertIfNegative val="0"/>
          <c:dLbls>
            <c:numFmt formatCode="0" sourceLinked="0"/>
            <c:txPr>
              <a:bodyPr/>
              <a:lstStyle/>
              <a:p>
                <a:pPr>
                  <a:defRPr b="0" i="0" strike="noStrike" sz="1400" u="none">
                    <a:solidFill>
                      <a:srgbClr val="2A1F28"/>
                    </a:solidFill>
                    <a:latin typeface="+mn-lt"/>
                  </a:defRPr>
                </a:pPr>
              </a:p>
            </c:txPr>
            <c:showLegendKey val="0"/>
            <c:showVal val="1"/>
            <c:showCatName val="0"/>
            <c:showSerName val="0"/>
            <c:showPercent val="0"/>
            <c:showBubbleSize val="0"/>
            <c:showLeaderLines val="0"/>
          </c:dLbls>
          <c:cat>
            <c:multiLvlStrRef>
              <c:f>Sheet1!$A$2:$A$5</c:f>
              <c:multiLvlStrCache>
                <c:ptCount val="4"/>
                <c:lvl>
                  <c:pt idx="0">
                    <c:v>No failures</c:v>
                  </c:pt>
                  <c:pt idx="1">
                    <c:v>One</c:v>
                  </c:pt>
                  <c:pt idx="2">
                    <c:v>Two</c:v>
                  </c:pt>
                  <c:pt idx="3">
                    <c:v>Three or more</c:v>
                  </c:pt>
                </c:lvl>
              </c:multiLvlStrCache>
            </c:multiLvlStrRef>
          </c:cat>
          <c:val>
            <c:numRef>
              <c:f>Sheet1!$B$2:$B$5</c:f>
              <c:numCache>
                <c:formatCode>General</c:formatCode>
                <c:ptCount val="4"/>
                <c:pt idx="0">
                  <c:v>75</c:v>
                </c:pt>
                <c:pt idx="1">
                  <c:v>48</c:v>
                </c:pt>
                <c:pt idx="2">
                  <c:v>18</c:v>
                </c:pt>
                <c:pt idx="3">
                  <c:v>25</c:v>
                </c:pt>
              </c:numCache>
            </c:numRef>
          </c:val>
        </c:ser>
        <c:dLbls>
          <c:numFmt formatCode="0" sourceLinked="0"/>
          <c:txPr>
            <a:bodyPr/>
            <a:lstStyle/>
            <a:p>
              <a:pPr>
                <a:defRPr b="0" i="0" strike="noStrike" sz="1400" u="none">
                  <a:solidFill>
                    <a:srgbClr val="2A1F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2A1F28"/>
                    </a:solidFill>
                    <a:latin typeface="+mn-lt"/>
                  </a:defRPr>
                </a:pPr>
                <a:r>
                  <a:rPr sz="1200" b="0" i="0" u="none" strike="noStrike">
                    <a:solidFill>
                      <a:srgbClr val="2A1F28"/>
                    </a:solidFill>
                    <a:latin typeface="+mn-lt"/>
                  </a:rPr>
                  <a:t>Previous class failures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A1F28"/>
                </a:solidFill>
                <a:latin typeface="+mn-lt"/>
              </a:defRPr>
            </a:pPr>
            <a:endParaRPr lang="en-US"/>
          </a:p>
        </c:txPr>
        <c:crossAx val="2094734552"/>
        <c:crossesAt val="autoZero"/>
        <c:auto val="1"/>
        <c:lblAlgn val="ctr"/>
        <c:noMultiLvlLbl val="1"/>
      </c:catAx>
      <c:valAx>
        <c:axId val="2094734552"/>
        <c:scaling>
          <c:orientation val="minMax"/>
          <c:max val="100"/>
          <c:min val="0"/>
        </c:scaling>
        <c:delete val="0"/>
        <c:axPos val="l"/>
        <c:majorGridlines>
          <c:spPr>
            <a:ln w="12700" cap="flat">
              <a:solidFill>
                <a:srgbClr val="F3E9F0"/>
              </a:solidFill>
              <a:prstDash val="solid"/>
              <a:round/>
            </a:ln>
          </c:spPr>
        </c:majorGridlines>
        <c:title>
          <c:tx>
            <c:rich>
              <a:bodyPr/>
              <a:lstStyle/>
              <a:p>
                <a:pPr>
                  <a:defRPr sz="1200" b="0" i="0" u="none" strike="noStrike">
                    <a:solidFill>
                      <a:srgbClr val="2A1F28"/>
                    </a:solidFill>
                    <a:latin typeface="+mn-lt"/>
                  </a:defRPr>
                </a:pPr>
                <a:r>
                  <a:rPr sz="1200" b="0" i="0" u="none" strike="noStrike">
                    <a:solidFill>
                      <a:srgbClr val="2A1F28"/>
                    </a:solidFill>
                    <a:latin typeface="+mn-lt"/>
                  </a:rPr>
                  <a:t>Students passing (%)</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A1F2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Chance of passing (%)</c:v>
                </c:pt>
              </c:strCache>
            </c:strRef>
          </c:tx>
          <c:spPr>
            <a:solidFill>
              <a:srgbClr val="7A3B69"/>
            </a:solidFill>
            <a:effectLst/>
          </c:spPr>
          <c:invertIfNegative val="0"/>
          <c:dLbls>
            <c:numFmt formatCode="0" sourceLinked="0"/>
            <c:txPr>
              <a:bodyPr/>
              <a:lstStyle/>
              <a:p>
                <a:pPr>
                  <a:defRPr b="0" i="0" strike="noStrike" sz="1400" u="none">
                    <a:solidFill>
                      <a:srgbClr val="2A1F28"/>
                    </a:solidFill>
                    <a:latin typeface="+mn-lt"/>
                  </a:defRPr>
                </a:pPr>
              </a:p>
            </c:txPr>
            <c:showLegendKey val="0"/>
            <c:showVal val="1"/>
            <c:showCatName val="0"/>
            <c:showSerName val="0"/>
            <c:showPercent val="0"/>
            <c:showBubbleSize val="0"/>
            <c:showLeaderLines val="0"/>
          </c:dLbls>
          <c:cat>
            <c:multiLvlStrRef>
              <c:f>Sheet1!$A$2:$A$5</c:f>
              <c:multiLvlStrCache>
                <c:ptCount val="4"/>
                <c:lvl>
                  <c:pt idx="0">
                    <c:v>Typical student</c:v>
                  </c:pt>
                  <c:pt idx="1">
                    <c:v>Goes out very often</c:v>
                  </c:pt>
                  <c:pt idx="2">
                    <c:v>One previous failure</c:v>
                  </c:pt>
                  <c:pt idx="3">
                    <c:v>Two previous failures</c:v>
                  </c:pt>
                </c:lvl>
              </c:multiLvlStrCache>
            </c:multiLvlStrRef>
          </c:cat>
          <c:val>
            <c:numRef>
              <c:f>Sheet1!$B$2:$B$5</c:f>
              <c:numCache>
                <c:formatCode>General</c:formatCode>
                <c:ptCount val="4"/>
                <c:pt idx="0">
                  <c:v>73</c:v>
                </c:pt>
                <c:pt idx="1">
                  <c:v>58</c:v>
                </c:pt>
                <c:pt idx="2">
                  <c:v>53</c:v>
                </c:pt>
                <c:pt idx="3">
                  <c:v>32</c:v>
                </c:pt>
              </c:numCache>
            </c:numRef>
          </c:val>
        </c:ser>
        <c:dLbls>
          <c:numFmt formatCode="0" sourceLinked="0"/>
          <c:txPr>
            <a:bodyPr/>
            <a:lstStyle/>
            <a:p>
              <a:pPr>
                <a:defRPr b="0" i="0" strike="noStrike" sz="1400" u="none">
                  <a:solidFill>
                    <a:srgbClr val="2A1F2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A1F28"/>
                </a:solidFill>
                <a:latin typeface="+mn-lt"/>
              </a:defRPr>
            </a:pPr>
            <a:endParaRPr lang="en-US"/>
          </a:p>
        </c:txPr>
        <c:crossAx val="2094734552"/>
        <c:crossesAt val="autoZero"/>
        <c:auto val="1"/>
        <c:lblAlgn val="ctr"/>
        <c:noMultiLvlLbl val="1"/>
      </c:catAx>
      <c:valAx>
        <c:axId val="2094734552"/>
        <c:scaling>
          <c:orientation val="minMax"/>
          <c:max val="100"/>
          <c:min val="0"/>
        </c:scaling>
        <c:delete val="0"/>
        <c:axPos val="b"/>
        <c:majorGridlines>
          <c:spPr>
            <a:ln w="12700" cap="flat">
              <a:solidFill>
                <a:srgbClr val="F3E9F0"/>
              </a:solidFill>
              <a:prstDash val="solid"/>
              <a:round/>
            </a:ln>
          </c:spPr>
        </c:majorGridlines>
        <c:title>
          <c:tx>
            <c:rich>
              <a:bodyPr/>
              <a:lstStyle/>
              <a:p>
                <a:pPr>
                  <a:defRPr sz="1200" b="0" i="0" u="none" strike="noStrike">
                    <a:solidFill>
                      <a:srgbClr val="2A1F28"/>
                    </a:solidFill>
                    <a:latin typeface="+mn-lt"/>
                  </a:defRPr>
                </a:pPr>
                <a:r>
                  <a:rPr sz="1200" b="0" i="0" u="none" strike="noStrike">
                    <a:solidFill>
                      <a:srgbClr val="2A1F28"/>
                    </a:solidFill>
                    <a:latin typeface="+mn-lt"/>
                  </a:rPr>
                  <a:t>Estimated chance of passing (%)</a:t>
                </a:r>
              </a:p>
            </c:rich>
          </c:tx>
          <c:layout/>
          <c:overlay val="0"/>
        </c:title>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2A1F2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summarise which student characteristics go with lower final grades and a higher risk of failing, how sure we can be, and what should not be concluded.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record combines background, family, study habits and lifestyle answers from a questionnaire with the final grade. Earlier grades in the same year were deliberately left out, so the analysis is about student characteristics and not about grades predicting grades. 38 students have a final grade of zero, which looks like 'no final result' and not a measured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rates: 75 percent with no previous class failure, 48 percent with one, 18 percent with two and 25 percent with three or more. On average each previous failure goes with a final grade about 1.8 points lower, after taking the other characteristics into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typical student here is female, has no previous failures, a mother with secondary education, goes out a moderate amount, studies 2 to 5 hours a week, wants to continue to higher education and has no extra school support. Estimates come from a model that considers the characteristics together. A male student with the same profile has an estimated 82 percent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characteristics explain 19 percent of the variation in grades. The model classifies 71 percent of students correctly, against 67 percent for simply predicting that everyone passes. Most of what decides a grade is not in these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are observational and mostly self-reported. Students who receive school support do worse on average, but their first-period grades were already lower, so the support is a response to difficulty and not its cause. A practical use of these findings is to make sure students with previous failures are noticed early, and to check the pattern in the school's own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4A20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4124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114800"/>
            <a:ext cx="841248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4A2040"/>
                </a:solidFill>
              </a:rPr>
              <a:t>Student performance study: 395 students, two schools, Mathematics</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2040"/>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4A20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204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8412480" cy="1828800"/>
          </a:xfrm>
          <a:prstGeom prst="rect">
            <a:avLst/>
          </a:prstGeom>
          <a:noFill/>
          <a:ln/>
        </p:spPr>
        <p:txBody>
          <a:bodyPr wrap="square" rtlCol="0" anchor="t"/>
          <a:lstStyle/>
          <a:p>
            <a:pPr algn="l" indent="0" marL="0">
              <a:buNone/>
            </a:pPr>
            <a:r>
              <a:rPr lang="en-US" sz="4400" b="1" dirty="0">
                <a:solidFill>
                  <a:schemeClr val="bg1"/>
                </a:solidFill>
              </a:rPr>
              <a:t>Who is at risk of failing Mathematics?</a:t>
            </a:r>
            <a:endParaRPr lang="en-US" sz="4400" dirty="0"/>
          </a:p>
        </p:txBody>
      </p:sp>
      <p:sp>
        <p:nvSpPr>
          <p:cNvPr id="3" name="Text 0"/>
          <p:cNvSpPr/>
          <p:nvPr>
            <p:ph idx="101" type="body" hasCustomPrompt="1"/>
          </p:nvPr>
        </p:nvSpPr>
        <p:spPr>
          <a:xfrm>
            <a:off x="731520" y="4114800"/>
            <a:ext cx="8412480" cy="1097280"/>
          </a:xfrm>
          <a:prstGeom prst="rect">
            <a:avLst/>
          </a:prstGeom>
          <a:noFill/>
          <a:ln/>
        </p:spPr>
        <p:txBody>
          <a:bodyPr wrap="square" rtlCol="0" anchor="t"/>
          <a:lstStyle/>
          <a:p>
            <a:pPr algn="l" indent="0" marL="0">
              <a:buNone/>
            </a:pPr>
            <a:r>
              <a:rPr lang="en-US" sz="2000" dirty="0">
                <a:solidFill>
                  <a:schemeClr val="bg2"/>
                </a:solidFill>
              </a:rPr>
              <a:t>Findings from 395 student records, for school decision-makers</a:t>
            </a:r>
            <a:endParaRPr lang="en-US" sz="2000" dirty="0"/>
          </a:p>
        </p:txBody>
      </p:sp>
      <p:sp>
        <p:nvSpPr>
          <p:cNvPr id="4" name="motif0"/>
          <p:cNvSpPr/>
          <p:nvPr/>
        </p:nvSpPr>
        <p:spPr>
          <a:xfrm>
            <a:off x="9692640" y="1463040"/>
            <a:ext cx="2377440" cy="2377440"/>
          </a:xfrm>
          <a:prstGeom prst="ellipse">
            <a:avLst/>
          </a:prstGeom>
          <a:solidFill>
            <a:schemeClr val="accent1"/>
          </a:solidFill>
          <a:ln w="12700">
            <a:solidFill>
              <a:schemeClr val="accent1"/>
            </a:solidFill>
            <a:prstDash val="solid"/>
          </a:ln>
        </p:spPr>
        <p:txBody>
          <a:bodyPr/>
          <a:p/>
        </p:txBody>
      </p:sp>
      <p:sp>
        <p:nvSpPr>
          <p:cNvPr id="5" name="motif1"/>
          <p:cNvSpPr/>
          <p:nvPr/>
        </p:nvSpPr>
        <p:spPr>
          <a:xfrm>
            <a:off x="10424160" y="2926080"/>
            <a:ext cx="1737360" cy="1737360"/>
          </a:xfrm>
          <a:prstGeom prst="ellipse">
            <a:avLst/>
          </a:prstGeom>
          <a:solidFill>
            <a:schemeClr val="accent2">
              <a:alpha val="65000"/>
            </a:schemeClr>
          </a:solidFill>
          <a:ln w="12700">
            <a:solidFill>
              <a:schemeClr val="accent2"/>
            </a:solidFill>
            <a:prstDash val="solid"/>
          </a:ln>
        </p:spPr>
        <p:txBody>
          <a:bodyPr/>
          <a:p/>
        </p:txBody>
      </p:sp>
      <p:sp>
        <p:nvSpPr>
          <p:cNvPr id="6" name="motif2"/>
          <p:cNvSpPr/>
          <p:nvPr/>
        </p:nvSpPr>
        <p:spPr>
          <a:xfrm>
            <a:off x="9326880" y="3931920"/>
            <a:ext cx="1188720" cy="1188720"/>
          </a:xfrm>
          <a:prstGeom prst="ellipse">
            <a:avLst/>
          </a:prstGeom>
          <a:solidFill>
            <a:schemeClr val="accent1">
              <a:alpha val="40000"/>
            </a:schemeClr>
          </a:solidFill>
          <a:ln w="12700">
            <a:solidFill>
              <a:schemeClr val="accent1"/>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rtlCol="0" anchor="t"/>
          <a:lstStyle/>
          <a:p>
            <a:pPr algn="l" indent="0" marL="0">
              <a:buNone/>
            </a:pPr>
            <a:r>
              <a:rPr lang="en-US" sz="3600" b="1" dirty="0">
                <a:solidFill>
                  <a:schemeClr val="tx2"/>
                </a:solidFill>
              </a:rPr>
              <a:t>The question and the data</a:t>
            </a:r>
            <a:endParaRPr lang="en-US" sz="3600" dirty="0"/>
          </a:p>
        </p:txBody>
      </p:sp>
      <p:sp>
        <p:nvSpPr>
          <p:cNvPr id="4" name="Text 1"/>
          <p:cNvSpPr txBox="1"/>
          <p:nvPr/>
        </p:nvSpPr>
        <p:spPr>
          <a:xfrm>
            <a:off x="548640" y="1645920"/>
            <a:ext cx="11064240" cy="914400"/>
          </a:xfrm>
          <a:prstGeom prst="rect">
            <a:avLst/>
          </a:prstGeom>
          <a:noFill/>
          <a:ln/>
        </p:spPr>
        <p:txBody>
          <a:bodyPr wrap="square" lIns="0" tIns="0" rIns="0" bIns="0" rtlCol="0" anchor="t"/>
          <a:lstStyle/>
          <a:p>
            <a:pPr indent="0" marL="0">
              <a:buNone/>
            </a:pPr>
            <a:r>
              <a:rPr lang="en-US" sz="1800" dirty="0">
                <a:solidFill>
                  <a:schemeClr val="tx1"/>
                </a:solidFill>
              </a:rPr>
              <a:t>Which student characteristics go with lower final Mathematics grades and a higher risk of failing? We analysed questionnaire and grade records from two secondary schools.</a:t>
            </a:r>
            <a:endParaRPr lang="en-US" sz="1800" dirty="0"/>
          </a:p>
        </p:txBody>
      </p:sp>
      <p:sp>
        <p:nvSpPr>
          <p:cNvPr id="5" name="card0"/>
          <p:cNvSpPr/>
          <p:nvPr/>
        </p:nvSpPr>
        <p:spPr>
          <a:xfrm>
            <a:off x="548640" y="2834640"/>
            <a:ext cx="3502152" cy="2651760"/>
          </a:xfrm>
          <a:prstGeom prst="roundRect">
            <a:avLst>
              <a:gd name="adj" fmla="val 4138"/>
            </a:avLst>
          </a:prstGeom>
          <a:solidFill>
            <a:schemeClr val="bg2"/>
          </a:solidFill>
          <a:ln w="12700">
            <a:solidFill>
              <a:schemeClr val="bg2"/>
            </a:solidFill>
            <a:prstDash val="solid"/>
          </a:ln>
        </p:spPr>
        <p:txBody>
          <a:bodyPr/>
          <a:p/>
        </p:txBody>
      </p:sp>
      <p:sp>
        <p:nvSpPr>
          <p:cNvPr id="6" name="Text 3"/>
          <p:cNvSpPr txBox="1"/>
          <p:nvPr/>
        </p:nvSpPr>
        <p:spPr>
          <a:xfrm>
            <a:off x="822960" y="3017520"/>
            <a:ext cx="2953512" cy="1188720"/>
          </a:xfrm>
          <a:prstGeom prst="rect">
            <a:avLst/>
          </a:prstGeom>
          <a:noFill/>
          <a:ln/>
        </p:spPr>
        <p:txBody>
          <a:bodyPr wrap="square" lIns="0" tIns="0" rIns="0" bIns="0" rtlCol="0" anchor="ctr"/>
          <a:lstStyle/>
          <a:p>
            <a:pPr indent="0" marL="0">
              <a:buNone/>
            </a:pPr>
            <a:r>
              <a:rPr lang="en-US" sz="6000" b="1" dirty="0">
                <a:solidFill>
                  <a:schemeClr val="accent1"/>
                </a:solidFill>
              </a:rPr>
              <a:t>395</a:t>
            </a:r>
            <a:endParaRPr lang="en-US" sz="6000" dirty="0"/>
          </a:p>
        </p:txBody>
      </p:sp>
      <p:sp>
        <p:nvSpPr>
          <p:cNvPr id="7" name="Text 4"/>
          <p:cNvSpPr txBox="1"/>
          <p:nvPr/>
        </p:nvSpPr>
        <p:spPr>
          <a:xfrm>
            <a:off x="822960" y="4251960"/>
            <a:ext cx="2953512" cy="1097280"/>
          </a:xfrm>
          <a:prstGeom prst="rect">
            <a:avLst/>
          </a:prstGeom>
          <a:noFill/>
          <a:ln/>
        </p:spPr>
        <p:txBody>
          <a:bodyPr wrap="square" lIns="0" tIns="0" rIns="0" bIns="0" rtlCol="0" anchor="t"/>
          <a:lstStyle/>
          <a:p>
            <a:pPr indent="0" marL="0">
              <a:buNone/>
            </a:pPr>
            <a:r>
              <a:rPr lang="en-US" sz="1800" dirty="0">
                <a:solidFill>
                  <a:schemeClr val="tx1"/>
                </a:solidFill>
              </a:rPr>
              <a:t>students from two Portuguese secondary schools</a:t>
            </a:r>
            <a:endParaRPr lang="en-US" sz="1800" dirty="0"/>
          </a:p>
        </p:txBody>
      </p:sp>
      <p:sp>
        <p:nvSpPr>
          <p:cNvPr id="8" name="card1"/>
          <p:cNvSpPr/>
          <p:nvPr/>
        </p:nvSpPr>
        <p:spPr>
          <a:xfrm>
            <a:off x="4325112" y="2834640"/>
            <a:ext cx="3502152" cy="2651760"/>
          </a:xfrm>
          <a:prstGeom prst="roundRect">
            <a:avLst>
              <a:gd name="adj" fmla="val 4138"/>
            </a:avLst>
          </a:prstGeom>
          <a:solidFill>
            <a:schemeClr val="bg2"/>
          </a:solidFill>
          <a:ln w="12700">
            <a:solidFill>
              <a:schemeClr val="bg2"/>
            </a:solidFill>
            <a:prstDash val="solid"/>
          </a:ln>
        </p:spPr>
        <p:txBody>
          <a:bodyPr/>
          <a:p/>
        </p:txBody>
      </p:sp>
      <p:sp>
        <p:nvSpPr>
          <p:cNvPr id="9" name="Text 6"/>
          <p:cNvSpPr txBox="1"/>
          <p:nvPr/>
        </p:nvSpPr>
        <p:spPr>
          <a:xfrm>
            <a:off x="4599432" y="3017520"/>
            <a:ext cx="2953512" cy="1188720"/>
          </a:xfrm>
          <a:prstGeom prst="rect">
            <a:avLst/>
          </a:prstGeom>
          <a:noFill/>
          <a:ln/>
        </p:spPr>
        <p:txBody>
          <a:bodyPr wrap="square" lIns="0" tIns="0" rIns="0" bIns="0" rtlCol="0" anchor="ctr"/>
          <a:lstStyle/>
          <a:p>
            <a:pPr indent="0" marL="0">
              <a:buNone/>
            </a:pPr>
            <a:r>
              <a:rPr lang="en-US" sz="6000" b="1" dirty="0">
                <a:solidFill>
                  <a:schemeClr val="accent1"/>
                </a:solidFill>
              </a:rPr>
              <a:t>67%</a:t>
            </a:r>
            <a:endParaRPr lang="en-US" sz="6000" dirty="0"/>
          </a:p>
        </p:txBody>
      </p:sp>
      <p:sp>
        <p:nvSpPr>
          <p:cNvPr id="10" name="Text 7"/>
          <p:cNvSpPr txBox="1"/>
          <p:nvPr/>
        </p:nvSpPr>
        <p:spPr>
          <a:xfrm>
            <a:off x="4599432" y="4251960"/>
            <a:ext cx="2953512" cy="1097280"/>
          </a:xfrm>
          <a:prstGeom prst="rect">
            <a:avLst/>
          </a:prstGeom>
          <a:noFill/>
          <a:ln/>
        </p:spPr>
        <p:txBody>
          <a:bodyPr wrap="square" lIns="0" tIns="0" rIns="0" bIns="0" rtlCol="0" anchor="t"/>
          <a:lstStyle/>
          <a:p>
            <a:pPr indent="0" marL="0">
              <a:buNone/>
            </a:pPr>
            <a:r>
              <a:rPr lang="en-US" sz="1800" dirty="0">
                <a:solidFill>
                  <a:schemeClr val="tx1"/>
                </a:solidFill>
              </a:rPr>
              <a:t>passed the course, with a final grade of 10 or more out of 20</a:t>
            </a:r>
            <a:endParaRPr lang="en-US" sz="1800" dirty="0"/>
          </a:p>
        </p:txBody>
      </p:sp>
      <p:sp>
        <p:nvSpPr>
          <p:cNvPr id="11" name="card2"/>
          <p:cNvSpPr/>
          <p:nvPr/>
        </p:nvSpPr>
        <p:spPr>
          <a:xfrm>
            <a:off x="8101584" y="2834640"/>
            <a:ext cx="3502152" cy="2651760"/>
          </a:xfrm>
          <a:prstGeom prst="roundRect">
            <a:avLst>
              <a:gd name="adj" fmla="val 4138"/>
            </a:avLst>
          </a:prstGeom>
          <a:solidFill>
            <a:schemeClr val="bg2"/>
          </a:solidFill>
          <a:ln w="12700">
            <a:solidFill>
              <a:schemeClr val="bg2"/>
            </a:solidFill>
            <a:prstDash val="solid"/>
          </a:ln>
        </p:spPr>
        <p:txBody>
          <a:bodyPr/>
          <a:p/>
        </p:txBody>
      </p:sp>
      <p:sp>
        <p:nvSpPr>
          <p:cNvPr id="12" name="Text 9"/>
          <p:cNvSpPr txBox="1"/>
          <p:nvPr/>
        </p:nvSpPr>
        <p:spPr>
          <a:xfrm>
            <a:off x="8375904" y="3017520"/>
            <a:ext cx="2953512" cy="1188720"/>
          </a:xfrm>
          <a:prstGeom prst="rect">
            <a:avLst/>
          </a:prstGeom>
          <a:noFill/>
          <a:ln/>
        </p:spPr>
        <p:txBody>
          <a:bodyPr wrap="square" lIns="0" tIns="0" rIns="0" bIns="0" rtlCol="0" anchor="ctr"/>
          <a:lstStyle/>
          <a:p>
            <a:pPr indent="0" marL="0">
              <a:buNone/>
            </a:pPr>
            <a:r>
              <a:rPr lang="en-US" sz="6000" b="1" dirty="0">
                <a:solidFill>
                  <a:schemeClr val="accent1"/>
                </a:solidFill>
              </a:rPr>
              <a:t>33%</a:t>
            </a:r>
            <a:endParaRPr lang="en-US" sz="6000" dirty="0"/>
          </a:p>
        </p:txBody>
      </p:sp>
      <p:sp>
        <p:nvSpPr>
          <p:cNvPr id="13" name="Text 10"/>
          <p:cNvSpPr txBox="1"/>
          <p:nvPr/>
        </p:nvSpPr>
        <p:spPr>
          <a:xfrm>
            <a:off x="8375904" y="4251960"/>
            <a:ext cx="2953512" cy="1097280"/>
          </a:xfrm>
          <a:prstGeom prst="rect">
            <a:avLst/>
          </a:prstGeom>
          <a:noFill/>
          <a:ln/>
        </p:spPr>
        <p:txBody>
          <a:bodyPr wrap="square" lIns="0" tIns="0" rIns="0" bIns="0" rtlCol="0" anchor="t"/>
          <a:lstStyle/>
          <a:p>
            <a:pPr indent="0" marL="0">
              <a:buNone/>
            </a:pPr>
            <a:r>
              <a:rPr lang="en-US" sz="1800" dirty="0">
                <a:solidFill>
                  <a:schemeClr val="tx1"/>
                </a:solidFill>
              </a:rPr>
              <a:t>failed: 130 students, the group this analysis is about</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204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rtlCol="0" anchor="t"/>
          <a:lstStyle/>
          <a:p>
            <a:pPr algn="l" indent="0" marL="0">
              <a:buNone/>
            </a:pPr>
            <a:r>
              <a:rPr lang="en-US" sz="3600" b="1" dirty="0">
                <a:solidFill>
                  <a:schemeClr val="tx2"/>
                </a:solidFill>
              </a:rPr>
              <a:t>Previous class failures are the clearest warning sign</a:t>
            </a:r>
            <a:endParaRPr lang="en-US" sz="3600" dirty="0"/>
          </a:p>
        </p:txBody>
      </p:sp>
      <p:graphicFrame>
        <p:nvGraphicFramePr>
          <p:cNvPr id="4" name="chart" descr=""/>
          <p:cNvGraphicFramePr/>
          <p:nvPr/>
        </p:nvGraphicFramePr>
        <p:xfrm>
          <a:off x="548640" y="16459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sidecard"/>
          <p:cNvSpPr/>
          <p:nvPr/>
        </p:nvSpPr>
        <p:spPr>
          <a:xfrm>
            <a:off x="7680960" y="1645920"/>
            <a:ext cx="3931920" cy="4480560"/>
          </a:xfrm>
          <a:prstGeom prst="roundRect">
            <a:avLst>
              <a:gd name="adj" fmla="val 2791"/>
            </a:avLst>
          </a:prstGeom>
          <a:solidFill>
            <a:schemeClr val="bg2"/>
          </a:solidFill>
          <a:ln w="12700">
            <a:solidFill>
              <a:schemeClr val="bg2"/>
            </a:solidFill>
            <a:prstDash val="solid"/>
          </a:ln>
        </p:spPr>
        <p:txBody>
          <a:bodyPr/>
          <a:p/>
        </p:txBody>
      </p:sp>
      <p:sp>
        <p:nvSpPr>
          <p:cNvPr id="6" name="Text 2"/>
          <p:cNvSpPr txBox="1"/>
          <p:nvPr/>
        </p:nvSpPr>
        <p:spPr>
          <a:xfrm>
            <a:off x="7955280" y="1828800"/>
            <a:ext cx="3383280" cy="1097280"/>
          </a:xfrm>
          <a:prstGeom prst="rect">
            <a:avLst/>
          </a:prstGeom>
          <a:noFill/>
          <a:ln/>
        </p:spPr>
        <p:txBody>
          <a:bodyPr wrap="square" lIns="0" tIns="0" rIns="0" bIns="0" rtlCol="0" anchor="ctr"/>
          <a:lstStyle/>
          <a:p>
            <a:pPr indent="0" marL="0">
              <a:buNone/>
            </a:pPr>
            <a:r>
              <a:rPr lang="en-US" sz="5400" b="1" dirty="0">
                <a:solidFill>
                  <a:schemeClr val="accent1"/>
                </a:solidFill>
              </a:rPr>
              <a:t>3 in 4</a:t>
            </a:r>
            <a:endParaRPr lang="en-US" sz="5400" dirty="0"/>
          </a:p>
        </p:txBody>
      </p:sp>
      <p:sp>
        <p:nvSpPr>
          <p:cNvPr id="7" name="Text 3"/>
          <p:cNvSpPr txBox="1"/>
          <p:nvPr/>
        </p:nvSpPr>
        <p:spPr>
          <a:xfrm>
            <a:off x="7955280" y="2926080"/>
            <a:ext cx="3383280" cy="914400"/>
          </a:xfrm>
          <a:prstGeom prst="rect">
            <a:avLst/>
          </a:prstGeom>
          <a:noFill/>
          <a:ln/>
        </p:spPr>
        <p:txBody>
          <a:bodyPr wrap="square" lIns="0" tIns="0" rIns="0" bIns="0" rtlCol="0" anchor="t"/>
          <a:lstStyle/>
          <a:p>
            <a:pPr indent="0" marL="0">
              <a:buNone/>
            </a:pPr>
            <a:r>
              <a:rPr lang="en-US" sz="1600" b="1" dirty="0">
                <a:solidFill>
                  <a:schemeClr val="tx2"/>
                </a:solidFill>
              </a:rPr>
              <a:t>students with no previous failure pass. With one failure it is about half.</a:t>
            </a:r>
            <a:endParaRPr lang="en-US" sz="1600" dirty="0"/>
          </a:p>
        </p:txBody>
      </p:sp>
      <p:sp>
        <p:nvSpPr>
          <p:cNvPr id="8" name="Text 4"/>
          <p:cNvSpPr txBox="1"/>
          <p:nvPr/>
        </p:nvSpPr>
        <p:spPr>
          <a:xfrm>
            <a:off x="7955280" y="388620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312 students have never failed; 50 once, 17 twice, 16 three or more times</a:t>
            </a:r>
            <a:endParaRPr lang="en-US" sz="1400" dirty="0"/>
          </a:p>
          <a:p>
            <a:pPr marL="342900" indent="-342900">
              <a:spcAft>
                <a:spcPts val="800"/>
              </a:spcAft>
              <a:buSzPct val="100000"/>
              <a:buChar char="•"/>
            </a:pPr>
            <a:r>
              <a:rPr lang="en-US" sz="1400" dirty="0">
                <a:solidFill>
                  <a:schemeClr val="tx1"/>
                </a:solidFill>
              </a:rPr>
              <a:t>The last two groups are small, so their rates are rough</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204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rtlCol="0" anchor="t"/>
          <a:lstStyle/>
          <a:p>
            <a:pPr algn="l" indent="0" marL="0">
              <a:buNone/>
            </a:pPr>
            <a:r>
              <a:rPr lang="en-US" sz="3600" b="1" dirty="0">
                <a:solidFill>
                  <a:schemeClr val="tx2"/>
                </a:solidFill>
              </a:rPr>
              <a:t>How the chance of passing changes</a:t>
            </a:r>
            <a:endParaRPr lang="en-US" sz="3600" dirty="0"/>
          </a:p>
        </p:txBody>
      </p:sp>
      <p:graphicFrame>
        <p:nvGraphicFramePr>
          <p:cNvPr id="4" name="chart" descr=""/>
          <p:cNvGraphicFramePr/>
          <p:nvPr/>
        </p:nvGraphicFramePr>
        <p:xfrm>
          <a:off x="548640" y="16459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sidecard"/>
          <p:cNvSpPr/>
          <p:nvPr/>
        </p:nvSpPr>
        <p:spPr>
          <a:xfrm>
            <a:off x="7680960" y="1645920"/>
            <a:ext cx="3931920" cy="4480560"/>
          </a:xfrm>
          <a:prstGeom prst="roundRect">
            <a:avLst>
              <a:gd name="adj" fmla="val 2791"/>
            </a:avLst>
          </a:prstGeom>
          <a:solidFill>
            <a:schemeClr val="bg2"/>
          </a:solidFill>
          <a:ln w="12700">
            <a:solidFill>
              <a:schemeClr val="bg2"/>
            </a:solidFill>
            <a:prstDash val="solid"/>
          </a:ln>
        </p:spPr>
        <p:txBody>
          <a:bodyPr/>
          <a:p/>
        </p:txBody>
      </p:sp>
      <p:sp>
        <p:nvSpPr>
          <p:cNvPr id="6" name="Text 2"/>
          <p:cNvSpPr txBox="1"/>
          <p:nvPr/>
        </p:nvSpPr>
        <p:spPr>
          <a:xfrm>
            <a:off x="7955280" y="1828800"/>
            <a:ext cx="3383280" cy="1097280"/>
          </a:xfrm>
          <a:prstGeom prst="rect">
            <a:avLst/>
          </a:prstGeom>
          <a:noFill/>
          <a:ln/>
        </p:spPr>
        <p:txBody>
          <a:bodyPr wrap="square" lIns="0" tIns="0" rIns="0" bIns="0" rtlCol="0" anchor="ctr"/>
          <a:lstStyle/>
          <a:p>
            <a:pPr indent="0" marL="0">
              <a:buNone/>
            </a:pPr>
            <a:r>
              <a:rPr lang="en-US" sz="5400" b="1" dirty="0">
                <a:solidFill>
                  <a:schemeClr val="accent1"/>
                </a:solidFill>
              </a:rPr>
              <a:t>73%</a:t>
            </a:r>
            <a:endParaRPr lang="en-US" sz="5400" dirty="0"/>
          </a:p>
        </p:txBody>
      </p:sp>
      <p:sp>
        <p:nvSpPr>
          <p:cNvPr id="7" name="Text 3"/>
          <p:cNvSpPr txBox="1"/>
          <p:nvPr/>
        </p:nvSpPr>
        <p:spPr>
          <a:xfrm>
            <a:off x="7955280" y="2926080"/>
            <a:ext cx="3383280" cy="914400"/>
          </a:xfrm>
          <a:prstGeom prst="rect">
            <a:avLst/>
          </a:prstGeom>
          <a:noFill/>
          <a:ln/>
        </p:spPr>
        <p:txBody>
          <a:bodyPr wrap="square" lIns="0" tIns="0" rIns="0" bIns="0" rtlCol="0" anchor="t"/>
          <a:lstStyle/>
          <a:p>
            <a:pPr indent="0" marL="0">
              <a:buNone/>
            </a:pPr>
            <a:r>
              <a:rPr lang="en-US" sz="1600" b="1" dirty="0">
                <a:solidFill>
                  <a:schemeClr val="tx2"/>
                </a:solidFill>
              </a:rPr>
              <a:t>estimated chance of passing for a typical student with no previous failures</a:t>
            </a:r>
            <a:endParaRPr lang="en-US" sz="1600" dirty="0"/>
          </a:p>
        </p:txBody>
      </p:sp>
      <p:sp>
        <p:nvSpPr>
          <p:cNvPr id="8" name="Text 4"/>
          <p:cNvSpPr txBox="1"/>
          <p:nvPr/>
        </p:nvSpPr>
        <p:spPr>
          <a:xfrm>
            <a:off x="7955280" y="388620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Each bar changes one thing about the typical student</a:t>
            </a:r>
            <a:endParaRPr lang="en-US" sz="1400" dirty="0"/>
          </a:p>
          <a:p>
            <a:pPr marL="342900" indent="-342900">
              <a:spcAft>
                <a:spcPts val="800"/>
              </a:spcAft>
              <a:buSzPct val="100000"/>
              <a:buChar char="•"/>
            </a:pPr>
            <a:r>
              <a:rPr lang="en-US" sz="1400" dirty="0">
                <a:solidFill>
                  <a:schemeClr val="tx1"/>
                </a:solidFill>
              </a:rPr>
              <a:t>Male students and students with more educated mothers do slightly better</a:t>
            </a:r>
            <a:endParaRPr lang="en-US" sz="1400" dirty="0"/>
          </a:p>
          <a:p>
            <a:pPr marL="342900" indent="-342900">
              <a:spcAft>
                <a:spcPts val="800"/>
              </a:spcAft>
              <a:buSzPct val="100000"/>
              <a:buChar char="•"/>
            </a:pPr>
            <a:r>
              <a:rPr lang="en-US" sz="1400" dirty="0">
                <a:solidFill>
                  <a:schemeClr val="tx1"/>
                </a:solidFill>
              </a:rPr>
              <a:t>Study time shows no clear link</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204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rtlCol="0" anchor="t"/>
          <a:lstStyle/>
          <a:p>
            <a:pPr algn="l" indent="0" marL="0">
              <a:buNone/>
            </a:pPr>
            <a:r>
              <a:rPr lang="en-US" sz="3600" b="1" dirty="0">
                <a:solidFill>
                  <a:schemeClr val="tx2"/>
                </a:solidFill>
              </a:rPr>
              <a:t>How sure can we be?</a:t>
            </a:r>
            <a:endParaRPr lang="en-US" sz="3600" dirty="0"/>
          </a:p>
        </p:txBody>
      </p:sp>
      <p:sp>
        <p:nvSpPr>
          <p:cNvPr id="4" name="bigcircle"/>
          <p:cNvSpPr/>
          <p:nvPr/>
        </p:nvSpPr>
        <p:spPr>
          <a:xfrm>
            <a:off x="548640" y="1737360"/>
            <a:ext cx="3931920" cy="3931920"/>
          </a:xfrm>
          <a:prstGeom prst="ellipse">
            <a:avLst/>
          </a:prstGeom>
          <a:solidFill>
            <a:schemeClr val="accent1"/>
          </a:solidFill>
          <a:ln w="12700">
            <a:solidFill>
              <a:schemeClr val="accent1"/>
            </a:solidFill>
            <a:prstDash val="solid"/>
          </a:ln>
        </p:spPr>
        <p:txBody>
          <a:bodyPr/>
          <a:p/>
        </p:txBody>
      </p:sp>
      <p:sp>
        <p:nvSpPr>
          <p:cNvPr id="5" name="Text 2"/>
          <p:cNvSpPr txBox="1"/>
          <p:nvPr/>
        </p:nvSpPr>
        <p:spPr>
          <a:xfrm>
            <a:off x="548640" y="2651760"/>
            <a:ext cx="3931920" cy="1280160"/>
          </a:xfrm>
          <a:prstGeom prst="rect">
            <a:avLst/>
          </a:prstGeom>
          <a:noFill/>
          <a:ln/>
        </p:spPr>
        <p:txBody>
          <a:bodyPr wrap="square" lIns="0" tIns="0" rIns="0" bIns="0" rtlCol="0" anchor="ctr"/>
          <a:lstStyle/>
          <a:p>
            <a:pPr algn="ctr" indent="0" marL="0">
              <a:buNone/>
            </a:pPr>
            <a:r>
              <a:rPr lang="en-US" sz="6000" b="1" dirty="0">
                <a:solidFill>
                  <a:schemeClr val="bg1"/>
                </a:solidFill>
              </a:rPr>
              <a:t>Under 1/5</a:t>
            </a:r>
            <a:endParaRPr lang="en-US" sz="6000" dirty="0"/>
          </a:p>
        </p:txBody>
      </p:sp>
      <p:sp>
        <p:nvSpPr>
          <p:cNvPr id="6" name="Text 3"/>
          <p:cNvSpPr txBox="1"/>
          <p:nvPr/>
        </p:nvSpPr>
        <p:spPr>
          <a:xfrm>
            <a:off x="914400" y="3931920"/>
            <a:ext cx="3200400" cy="1097280"/>
          </a:xfrm>
          <a:prstGeom prst="rect">
            <a:avLst/>
          </a:prstGeom>
          <a:noFill/>
          <a:ln/>
        </p:spPr>
        <p:txBody>
          <a:bodyPr wrap="square" lIns="0" tIns="0" rIns="0" bIns="0" rtlCol="0" anchor="t"/>
          <a:lstStyle/>
          <a:p>
            <a:pPr algn="ctr" indent="0" marL="0">
              <a:buNone/>
            </a:pPr>
            <a:r>
              <a:rPr lang="en-US" sz="1600" dirty="0">
                <a:solidFill>
                  <a:schemeClr val="bg1"/>
                </a:solidFill>
              </a:rPr>
              <a:t>of the differences in final grades are explained by these characteristics</a:t>
            </a:r>
            <a:endParaRPr lang="en-US" sz="1600" dirty="0"/>
          </a:p>
        </p:txBody>
      </p:sp>
      <p:sp>
        <p:nvSpPr>
          <p:cNvPr id="7" name="ccard0"/>
          <p:cNvSpPr/>
          <p:nvPr/>
        </p:nvSpPr>
        <p:spPr>
          <a:xfrm>
            <a:off x="4937760" y="1737360"/>
            <a:ext cx="6675120" cy="1188720"/>
          </a:xfrm>
          <a:prstGeom prst="roundRect">
            <a:avLst>
              <a:gd name="adj" fmla="val 7692"/>
            </a:avLst>
          </a:prstGeom>
          <a:solidFill>
            <a:schemeClr val="bg2"/>
          </a:solidFill>
          <a:ln w="12700">
            <a:solidFill>
              <a:schemeClr val="bg2"/>
            </a:solidFill>
            <a:prstDash val="solid"/>
          </a:ln>
        </p:spPr>
        <p:txBody>
          <a:bodyPr/>
          <a:p/>
        </p:txBody>
      </p:sp>
      <p:sp>
        <p:nvSpPr>
          <p:cNvPr id="8" name="Text 5"/>
          <p:cNvSpPr txBox="1"/>
          <p:nvPr/>
        </p:nvSpPr>
        <p:spPr>
          <a:xfrm>
            <a:off x="5212080" y="1847088"/>
            <a:ext cx="6126480" cy="365760"/>
          </a:xfrm>
          <a:prstGeom prst="rect">
            <a:avLst/>
          </a:prstGeom>
          <a:noFill/>
          <a:ln/>
        </p:spPr>
        <p:txBody>
          <a:bodyPr wrap="square" lIns="0" tIns="0" rIns="0" bIns="0" rtlCol="0" anchor="t"/>
          <a:lstStyle/>
          <a:p>
            <a:pPr indent="0" marL="0">
              <a:buNone/>
            </a:pPr>
            <a:r>
              <a:rPr lang="en-US" sz="1800" b="1" dirty="0">
                <a:solidFill>
                  <a:schemeClr val="tx2"/>
                </a:solidFill>
              </a:rPr>
              <a:t>The link with previous failures is reliable</a:t>
            </a:r>
            <a:endParaRPr lang="en-US" sz="1800" dirty="0"/>
          </a:p>
        </p:txBody>
      </p:sp>
      <p:sp>
        <p:nvSpPr>
          <p:cNvPr id="9" name="Text 6"/>
          <p:cNvSpPr txBox="1"/>
          <p:nvPr/>
        </p:nvSpPr>
        <p:spPr>
          <a:xfrm>
            <a:off x="5212080" y="2240280"/>
            <a:ext cx="6126480" cy="640080"/>
          </a:xfrm>
          <a:prstGeom prst="rect">
            <a:avLst/>
          </a:prstGeom>
          <a:noFill/>
          <a:ln/>
        </p:spPr>
        <p:txBody>
          <a:bodyPr wrap="square" lIns="0" tIns="0" rIns="0" bIns="0" rtlCol="0" anchor="t"/>
          <a:lstStyle/>
          <a:p>
            <a:pPr indent="0" marL="0">
              <a:buNone/>
            </a:pPr>
            <a:r>
              <a:rPr lang="en-US" sz="1400" dirty="0">
                <a:solidFill>
                  <a:schemeClr val="tx1"/>
                </a:solidFill>
              </a:rPr>
              <a:t>It appears in every version of the analysis; the data rule out no link.</a:t>
            </a:r>
            <a:endParaRPr lang="en-US" sz="1400" dirty="0"/>
          </a:p>
        </p:txBody>
      </p:sp>
      <p:sp>
        <p:nvSpPr>
          <p:cNvPr id="10" name="ccard1"/>
          <p:cNvSpPr/>
          <p:nvPr/>
        </p:nvSpPr>
        <p:spPr>
          <a:xfrm>
            <a:off x="4937760" y="3108960"/>
            <a:ext cx="6675120" cy="1188720"/>
          </a:xfrm>
          <a:prstGeom prst="roundRect">
            <a:avLst>
              <a:gd name="adj" fmla="val 7692"/>
            </a:avLst>
          </a:prstGeom>
          <a:solidFill>
            <a:schemeClr val="bg2"/>
          </a:solidFill>
          <a:ln w="12700">
            <a:solidFill>
              <a:schemeClr val="bg2"/>
            </a:solidFill>
            <a:prstDash val="solid"/>
          </a:ln>
        </p:spPr>
        <p:txBody>
          <a:bodyPr/>
          <a:p/>
        </p:txBody>
      </p:sp>
      <p:sp>
        <p:nvSpPr>
          <p:cNvPr id="11" name="Text 8"/>
          <p:cNvSpPr txBox="1"/>
          <p:nvPr/>
        </p:nvSpPr>
        <p:spPr>
          <a:xfrm>
            <a:off x="5212080" y="3218688"/>
            <a:ext cx="6126480" cy="365760"/>
          </a:xfrm>
          <a:prstGeom prst="rect">
            <a:avLst/>
          </a:prstGeom>
          <a:noFill/>
          <a:ln/>
        </p:spPr>
        <p:txBody>
          <a:bodyPr wrap="square" lIns="0" tIns="0" rIns="0" bIns="0" rtlCol="0" anchor="t"/>
          <a:lstStyle/>
          <a:p>
            <a:pPr indent="0" marL="0">
              <a:buNone/>
            </a:pPr>
            <a:r>
              <a:rPr lang="en-US" sz="1800" b="1" dirty="0">
                <a:solidFill>
                  <a:schemeClr val="tx2"/>
                </a:solidFill>
              </a:rPr>
              <a:t>The model cannot pick out individuals</a:t>
            </a:r>
            <a:endParaRPr lang="en-US" sz="1800" dirty="0"/>
          </a:p>
        </p:txBody>
      </p:sp>
      <p:sp>
        <p:nvSpPr>
          <p:cNvPr id="12" name="Text 9"/>
          <p:cNvSpPr txBox="1"/>
          <p:nvPr/>
        </p:nvSpPr>
        <p:spPr>
          <a:xfrm>
            <a:off x="5212080" y="3611880"/>
            <a:ext cx="6126480" cy="640080"/>
          </a:xfrm>
          <a:prstGeom prst="rect">
            <a:avLst/>
          </a:prstGeom>
          <a:noFill/>
          <a:ln/>
        </p:spPr>
        <p:txBody>
          <a:bodyPr wrap="square" lIns="0" tIns="0" rIns="0" bIns="0" rtlCol="0" anchor="t"/>
          <a:lstStyle/>
          <a:p>
            <a:pPr indent="0" marL="0">
              <a:buNone/>
            </a:pPr>
            <a:r>
              <a:rPr lang="en-US" sz="1400" dirty="0">
                <a:solidFill>
                  <a:schemeClr val="tx1"/>
                </a:solidFill>
              </a:rPr>
              <a:t>It identifies only 38 of the 130 students who failed.</a:t>
            </a:r>
            <a:endParaRPr lang="en-US" sz="1400" dirty="0"/>
          </a:p>
        </p:txBody>
      </p:sp>
      <p:sp>
        <p:nvSpPr>
          <p:cNvPr id="13" name="ccard2"/>
          <p:cNvSpPr/>
          <p:nvPr/>
        </p:nvSpPr>
        <p:spPr>
          <a:xfrm>
            <a:off x="4937760" y="4480560"/>
            <a:ext cx="6675120" cy="1188720"/>
          </a:xfrm>
          <a:prstGeom prst="roundRect">
            <a:avLst>
              <a:gd name="adj" fmla="val 7692"/>
            </a:avLst>
          </a:prstGeom>
          <a:solidFill>
            <a:schemeClr val="bg2"/>
          </a:solidFill>
          <a:ln w="12700">
            <a:solidFill>
              <a:schemeClr val="bg2"/>
            </a:solidFill>
            <a:prstDash val="solid"/>
          </a:ln>
        </p:spPr>
        <p:txBody>
          <a:bodyPr/>
          <a:p/>
        </p:txBody>
      </p:sp>
      <p:sp>
        <p:nvSpPr>
          <p:cNvPr id="14" name="Text 11"/>
          <p:cNvSpPr txBox="1"/>
          <p:nvPr/>
        </p:nvSpPr>
        <p:spPr>
          <a:xfrm>
            <a:off x="5212080" y="4590288"/>
            <a:ext cx="6126480" cy="365760"/>
          </a:xfrm>
          <a:prstGeom prst="rect">
            <a:avLst/>
          </a:prstGeom>
          <a:noFill/>
          <a:ln/>
        </p:spPr>
        <p:txBody>
          <a:bodyPr wrap="square" lIns="0" tIns="0" rIns="0" bIns="0" rtlCol="0" anchor="t"/>
          <a:lstStyle/>
          <a:p>
            <a:pPr indent="0" marL="0">
              <a:buNone/>
            </a:pPr>
            <a:r>
              <a:rPr lang="en-US" sz="1800" b="1" dirty="0">
                <a:solidFill>
                  <a:schemeClr val="tx2"/>
                </a:solidFill>
              </a:rPr>
              <a:t>38 final grades of zero blur the picture</a:t>
            </a:r>
            <a:endParaRPr lang="en-US" sz="1800" dirty="0"/>
          </a:p>
        </p:txBody>
      </p:sp>
      <p:sp>
        <p:nvSpPr>
          <p:cNvPr id="15" name="Text 12"/>
          <p:cNvSpPr txBox="1"/>
          <p:nvPr/>
        </p:nvSpPr>
        <p:spPr>
          <a:xfrm>
            <a:off x="5212080" y="4983480"/>
            <a:ext cx="6126480" cy="640080"/>
          </a:xfrm>
          <a:prstGeom prst="rect">
            <a:avLst/>
          </a:prstGeom>
          <a:noFill/>
          <a:ln/>
        </p:spPr>
        <p:txBody>
          <a:bodyPr wrap="square" lIns="0" tIns="0" rIns="0" bIns="0" rtlCol="0" anchor="t"/>
          <a:lstStyle/>
          <a:p>
            <a:pPr indent="0" marL="0">
              <a:buNone/>
            </a:pPr>
            <a:r>
              <a:rPr lang="en-US" sz="1400" dirty="0">
                <a:solidFill>
                  <a:schemeClr val="tx1"/>
                </a:solidFill>
              </a:rPr>
              <a:t>They look like missing results. Findings on study time and school support change when they are set aside.</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204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rtlCol="0" anchor="t"/>
          <a:lstStyle/>
          <a:p>
            <a:pPr algn="l" indent="0" marL="0">
              <a:buNone/>
            </a:pPr>
            <a:r>
              <a:rPr lang="en-US" sz="3600" b="1" dirty="0">
                <a:solidFill>
                  <a:schemeClr val="bg1"/>
                </a:solidFill>
              </a:rPr>
              <a:t>What to conclude, and what not to</a:t>
            </a:r>
            <a:endParaRPr lang="en-US" sz="3600" dirty="0"/>
          </a:p>
        </p:txBody>
      </p:sp>
      <p:sp>
        <p:nvSpPr>
          <p:cNvPr id="4" name="col0"/>
          <p:cNvSpPr/>
          <p:nvPr/>
        </p:nvSpPr>
        <p:spPr>
          <a:xfrm>
            <a:off x="548640" y="1737360"/>
            <a:ext cx="5394960" cy="3931920"/>
          </a:xfrm>
          <a:prstGeom prst="roundRect">
            <a:avLst>
              <a:gd name="adj" fmla="val 2791"/>
            </a:avLst>
          </a:prstGeom>
          <a:solidFill>
            <a:schemeClr val="bg1"/>
          </a:solidFill>
          <a:ln w="12700">
            <a:solidFill>
              <a:schemeClr val="bg1"/>
            </a:solidFill>
            <a:prstDash val="solid"/>
          </a:ln>
        </p:spPr>
        <p:txBody>
          <a:bodyPr/>
          <a:p/>
        </p:txBody>
      </p:sp>
      <p:sp>
        <p:nvSpPr>
          <p:cNvPr id="5" name="dot0"/>
          <p:cNvSpPr/>
          <p:nvPr/>
        </p:nvSpPr>
        <p:spPr>
          <a:xfrm>
            <a:off x="822960" y="1965960"/>
            <a:ext cx="548640" cy="548640"/>
          </a:xfrm>
          <a:prstGeom prst="ellipse">
            <a:avLst/>
          </a:prstGeom>
          <a:solidFill>
            <a:schemeClr val="accent1"/>
          </a:solidFill>
          <a:ln w="12700">
            <a:solidFill>
              <a:schemeClr val="accent1"/>
            </a:solidFill>
            <a:prstDash val="solid"/>
          </a:ln>
        </p:spPr>
        <p:txBody>
          <a:bodyPr/>
          <a:p/>
        </p:txBody>
      </p:sp>
      <p:sp>
        <p:nvSpPr>
          <p:cNvPr id="6" name="Text 3"/>
          <p:cNvSpPr txBox="1"/>
          <p:nvPr/>
        </p:nvSpPr>
        <p:spPr>
          <a:xfrm>
            <a:off x="822960" y="1965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7" name="Text 4"/>
          <p:cNvSpPr txBox="1"/>
          <p:nvPr/>
        </p:nvSpPr>
        <p:spPr>
          <a:xfrm>
            <a:off x="1508760" y="1965960"/>
            <a:ext cx="4206240" cy="548640"/>
          </a:xfrm>
          <a:prstGeom prst="rect">
            <a:avLst/>
          </a:prstGeom>
          <a:noFill/>
          <a:ln/>
        </p:spPr>
        <p:txBody>
          <a:bodyPr wrap="square" lIns="0" tIns="0" rIns="0" bIns="0" rtlCol="0" anchor="ctr"/>
          <a:lstStyle/>
          <a:p>
            <a:pPr indent="0" marL="0">
              <a:buNone/>
            </a:pPr>
            <a:r>
              <a:rPr lang="en-US" sz="2200" b="1" dirty="0">
                <a:solidFill>
                  <a:schemeClr val="tx2"/>
                </a:solidFill>
              </a:rPr>
              <a:t>Supported by the data</a:t>
            </a:r>
            <a:endParaRPr lang="en-US" sz="2200" dirty="0"/>
          </a:p>
        </p:txBody>
      </p:sp>
      <p:sp>
        <p:nvSpPr>
          <p:cNvPr id="8" name="Text 5"/>
          <p:cNvSpPr txBox="1"/>
          <p:nvPr/>
        </p:nvSpPr>
        <p:spPr>
          <a:xfrm>
            <a:off x="822960" y="2743200"/>
            <a:ext cx="484632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Students with previous class failures are a group at clearly higher risk</a:t>
            </a:r>
            <a:endParaRPr lang="en-US" sz="1800" dirty="0"/>
          </a:p>
          <a:p>
            <a:pPr marL="342900" indent="-342900">
              <a:spcAft>
                <a:spcPts val="1000"/>
              </a:spcAft>
              <a:buSzPct val="100000"/>
              <a:buChar char="•"/>
            </a:pPr>
            <a:r>
              <a:rPr lang="en-US" sz="1800" dirty="0">
                <a:solidFill>
                  <a:schemeClr val="tx1"/>
                </a:solidFill>
              </a:rPr>
              <a:t>Going out very often goes with somewhat lower results</a:t>
            </a:r>
            <a:endParaRPr lang="en-US" sz="1800" dirty="0"/>
          </a:p>
          <a:p>
            <a:pPr marL="342900" indent="-342900">
              <a:spcAft>
                <a:spcPts val="1000"/>
              </a:spcAft>
              <a:buSzPct val="100000"/>
              <a:buChar char="•"/>
            </a:pPr>
            <a:r>
              <a:rPr lang="en-US" sz="1800" dirty="0">
                <a:solidFill>
                  <a:schemeClr val="tx1"/>
                </a:solidFill>
              </a:rPr>
              <a:t>Background questions alone explain little of the difference between students</a:t>
            </a:r>
            <a:endParaRPr lang="en-US" sz="1800" dirty="0"/>
          </a:p>
        </p:txBody>
      </p:sp>
      <p:sp>
        <p:nvSpPr>
          <p:cNvPr id="9" name="col1"/>
          <p:cNvSpPr/>
          <p:nvPr/>
        </p:nvSpPr>
        <p:spPr>
          <a:xfrm>
            <a:off x="6217920" y="1737360"/>
            <a:ext cx="5394960" cy="3931920"/>
          </a:xfrm>
          <a:prstGeom prst="roundRect">
            <a:avLst>
              <a:gd name="adj" fmla="val 2791"/>
            </a:avLst>
          </a:prstGeom>
          <a:solidFill>
            <a:schemeClr val="bg2"/>
          </a:solidFill>
          <a:ln w="12700">
            <a:solidFill>
              <a:schemeClr val="bg1"/>
            </a:solidFill>
            <a:prstDash val="solid"/>
          </a:ln>
        </p:spPr>
        <p:txBody>
          <a:bodyPr/>
          <a:p/>
        </p:txBody>
      </p:sp>
      <p:sp>
        <p:nvSpPr>
          <p:cNvPr id="10" name="dot1"/>
          <p:cNvSpPr/>
          <p:nvPr/>
        </p:nvSpPr>
        <p:spPr>
          <a:xfrm>
            <a:off x="6492240" y="1965960"/>
            <a:ext cx="548640" cy="548640"/>
          </a:xfrm>
          <a:prstGeom prst="ellipse">
            <a:avLst/>
          </a:prstGeom>
          <a:solidFill>
            <a:schemeClr val="accent2"/>
          </a:solidFill>
          <a:ln w="12700">
            <a:solidFill>
              <a:schemeClr val="accent2"/>
            </a:solidFill>
            <a:prstDash val="solid"/>
          </a:ln>
        </p:spPr>
        <p:txBody>
          <a:bodyPr/>
          <a:p/>
        </p:txBody>
      </p:sp>
      <p:sp>
        <p:nvSpPr>
          <p:cNvPr id="11" name="Text 8"/>
          <p:cNvSpPr txBox="1"/>
          <p:nvPr/>
        </p:nvSpPr>
        <p:spPr>
          <a:xfrm>
            <a:off x="6492240" y="19659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2" name="Text 9"/>
          <p:cNvSpPr txBox="1"/>
          <p:nvPr/>
        </p:nvSpPr>
        <p:spPr>
          <a:xfrm>
            <a:off x="7178040" y="1965960"/>
            <a:ext cx="4206240" cy="548640"/>
          </a:xfrm>
          <a:prstGeom prst="rect">
            <a:avLst/>
          </a:prstGeom>
          <a:noFill/>
          <a:ln/>
        </p:spPr>
        <p:txBody>
          <a:bodyPr wrap="square" lIns="0" tIns="0" rIns="0" bIns="0" rtlCol="0" anchor="ctr"/>
          <a:lstStyle/>
          <a:p>
            <a:pPr indent="0" marL="0">
              <a:buNone/>
            </a:pPr>
            <a:r>
              <a:rPr lang="en-US" sz="2200" b="1" dirty="0">
                <a:solidFill>
                  <a:schemeClr val="tx2"/>
                </a:solidFill>
              </a:rPr>
              <a:t>Not supported</a:t>
            </a:r>
            <a:endParaRPr lang="en-US" sz="2200" dirty="0"/>
          </a:p>
        </p:txBody>
      </p:sp>
      <p:sp>
        <p:nvSpPr>
          <p:cNvPr id="13" name="Text 10"/>
          <p:cNvSpPr txBox="1"/>
          <p:nvPr/>
        </p:nvSpPr>
        <p:spPr>
          <a:xfrm>
            <a:off x="6492240" y="2743200"/>
            <a:ext cx="484632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That going out less or studying more would raise a grade: the records show association, not cause</a:t>
            </a:r>
            <a:endParaRPr lang="en-US" sz="1800" dirty="0"/>
          </a:p>
          <a:p>
            <a:pPr marL="342900" indent="-342900">
              <a:spcAft>
                <a:spcPts val="1000"/>
              </a:spcAft>
              <a:buSzPct val="100000"/>
              <a:buChar char="•"/>
            </a:pPr>
            <a:r>
              <a:rPr lang="en-US" sz="1800" dirty="0">
                <a:solidFill>
                  <a:schemeClr val="tx1"/>
                </a:solidFill>
              </a:rPr>
              <a:t>That school support harms results: it is given to students who were already struggling</a:t>
            </a:r>
            <a:endParaRPr lang="en-US" sz="1800" dirty="0"/>
          </a:p>
          <a:p>
            <a:pPr marL="342900" indent="-342900">
              <a:spcAft>
                <a:spcPts val="1000"/>
              </a:spcAft>
              <a:buSzPct val="100000"/>
              <a:buChar char="•"/>
            </a:pPr>
            <a:r>
              <a:rPr lang="en-US" sz="1800" dirty="0">
                <a:solidFill>
                  <a:schemeClr val="tx1"/>
                </a:solidFill>
              </a:rPr>
              <a:t>That the same pattern holds in other schools or countries</a:t>
            </a:r>
            <a:endParaRPr lang="en-US" sz="1800" dirty="0"/>
          </a:p>
        </p:txBody>
      </p:sp>
    </p:spTree>
  </p:cSld>
  <p:clrMapOvr>
    <a:masterClrMapping/>
  </p:clrMapOvr>
</p:sld>
</file>

<file path=ppt/theme/theme1.xml><?xml version="1.0" encoding="utf-8"?>
<a:theme xmlns:a="http://schemas.openxmlformats.org/drawingml/2006/main" name="School Plum">
  <a:themeElements>
    <a:clrScheme name="School Plum">
      <a:dk1>
        <a:srgbClr val="2A1F28"/>
      </a:dk1>
      <a:lt1>
        <a:srgbClr val="FFFFFF"/>
      </a:lt1>
      <a:dk2>
        <a:srgbClr val="4A2040"/>
      </a:dk2>
      <a:lt2>
        <a:srgbClr val="F3E9F0"/>
      </a:lt2>
      <a:accent1>
        <a:srgbClr val="7A3B69"/>
      </a:accent1>
      <a:accent2>
        <a:srgbClr val="D9A441"/>
      </a:accent2>
      <a:accent3>
        <a:srgbClr val="B58AA5"/>
      </a:accent3>
      <a:accent4>
        <a:srgbClr val="4A2040"/>
      </a:accent4>
      <a:accent5>
        <a:srgbClr val="8C6B1F"/>
      </a:accent5>
      <a:accent6>
        <a:srgbClr val="6B5A66"/>
      </a:accent6>
      <a:hlink>
        <a:srgbClr val="7A3B69"/>
      </a:hlink>
      <a:folHlink>
        <a:srgbClr val="6B5A66"/>
      </a:folHlink>
    </a:clrScheme>
    <a:fontScheme name="School 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is at risk of failing Mathematics?</dc:title>
  <dc:subject>Final Project Scenario 2</dc:subject>
  <dc:creator/>
  <cp:lastModifiedBy/>
  <cp:revision>1</cp:revision>
  <dcterms:created xsi:type="dcterms:W3CDTF">2026-10-09T07:33:00Z</dcterms:created>
  <dcterms:modified xsi:type="dcterms:W3CDTF">2026-10-09T07:33:00Z</dcterms:modified>
  <cp:keywords/>
  <dc:description/>
  <cp:category/>
</cp:coreProperties>
</file>